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0ba1e520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0ba1e520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0ba1e52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0ba1e52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0ba1e52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0ba1e52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0ba1e520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0ba1e520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0ba1e520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0ba1e520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0ba1e52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0ba1e52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0ba1e520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0ba1e520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0ba1e52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0ba1e52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0ba1e520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0ba1e520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0ba1e520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0ba1e52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0ba1e520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0ba1e520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Anonymity and Onion Routing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Network Security - </a:t>
            </a:r>
            <a:r>
              <a:rPr lang="pt-PT"/>
              <a:t>First Assignment Report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3954800" y="4569000"/>
            <a:ext cx="50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2"/>
                </a:solidFill>
              </a:rPr>
              <a:t>Tiago Almeida - Diogo Leandro - Yves Bonneau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 we will talk about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992375" y="1801575"/>
            <a:ext cx="3482700" cy="24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PT" sz="1600"/>
              <a:t>What is Tor</a:t>
            </a:r>
            <a:endParaRPr sz="1600"/>
          </a:p>
          <a:p>
            <a:pPr indent="-33020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PT" sz="1600"/>
              <a:t>Brief Tor history</a:t>
            </a:r>
            <a:endParaRPr sz="1600"/>
          </a:p>
          <a:p>
            <a:pPr indent="-33020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PT" sz="1600"/>
              <a:t>Tor core design</a:t>
            </a:r>
            <a:endParaRPr sz="1600"/>
          </a:p>
          <a:p>
            <a:pPr indent="-33020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PT" sz="1600"/>
              <a:t>Plan for </a:t>
            </a:r>
            <a:r>
              <a:rPr lang="pt-PT" sz="1600"/>
              <a:t>assignment</a:t>
            </a:r>
            <a:r>
              <a:rPr lang="pt-PT" sz="1600"/>
              <a:t> 2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What is Tor?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323525" y="1567550"/>
            <a:ext cx="4719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358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3"/>
              <a:buChar char="●"/>
            </a:pPr>
            <a:r>
              <a:rPr lang="pt-PT" sz="1602"/>
              <a:t>Tor means "The Onion Router" network</a:t>
            </a:r>
            <a:endParaRPr sz="1602"/>
          </a:p>
          <a:p>
            <a:pPr indent="-330358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3"/>
              <a:buChar char="●"/>
            </a:pPr>
            <a:r>
              <a:rPr lang="pt-PT" sz="1602"/>
              <a:t>Tor provides complete anonymity for users</a:t>
            </a:r>
            <a:endParaRPr sz="1602"/>
          </a:p>
          <a:p>
            <a:pPr indent="-330358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603"/>
              <a:buChar char="●"/>
            </a:pPr>
            <a:r>
              <a:rPr lang="pt-PT" sz="1602"/>
              <a:t>It is a global volunteer-operated relay network</a:t>
            </a:r>
            <a:endParaRPr sz="1602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150" y="1699550"/>
            <a:ext cx="3499325" cy="19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2500"/>
              <a:t>Brief Tor history</a:t>
            </a:r>
            <a:endParaRPr sz="2500"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Began in mid-1990s as U.S. Naval Research project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Goal was protecting online communication against traffic analysis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Concept of onion routing was introduced in a 1996 paper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First public version of Tor released in 2002 by key researchers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Tor Project became a nonprofit organization in 2006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2500"/>
              <a:t>Tor core design</a:t>
            </a:r>
            <a:endParaRPr sz="2500"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/>
              <a:t>There are alot of components that make Tor what it is.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O</a:t>
            </a:r>
            <a:r>
              <a:rPr lang="pt-PT" sz="1600"/>
              <a:t>nion Proxy and Onion Router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Relay and Control Cells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Circuits and Streams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Directory Servers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PT" sz="1600"/>
              <a:t>Hidden Services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38575" y="278075"/>
            <a:ext cx="75936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500"/>
              <a:t>Tor core design</a:t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2"/>
                </a:solidFill>
              </a:rPr>
              <a:t>Onion Proxy and Onion Router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311700" y="1817613"/>
            <a:ext cx="42603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The Onion Proxy</a:t>
            </a:r>
            <a:r>
              <a:rPr lang="pt-PT"/>
              <a:t> is the client-side Tor software that users run to connect to the network.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500" y="1817627"/>
            <a:ext cx="3961276" cy="264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311700" y="2976500"/>
            <a:ext cx="4028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P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Onion Router</a:t>
            </a:r>
            <a:r>
              <a:rPr lang="pt-P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also called a relay or node, is a volunteer-operated server responsible for forwarding Tor traffic.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18"/>
          <p:cNvCxnSpPr/>
          <p:nvPr/>
        </p:nvCxnSpPr>
        <p:spPr>
          <a:xfrm>
            <a:off x="4642600" y="1480325"/>
            <a:ext cx="12900" cy="337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12875" y="258800"/>
            <a:ext cx="76194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500"/>
              <a:t>Tor core design</a:t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2"/>
                </a:solidFill>
              </a:rPr>
              <a:t>Relay and Control Cells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415375" y="1753350"/>
            <a:ext cx="3552300" cy="8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PT" sz="1500"/>
              <a:t>In Tor communication, two types of cells are exchanged, each with a fixed size of 512 bytes.</a:t>
            </a:r>
            <a:endParaRPr sz="1500"/>
          </a:p>
        </p:txBody>
      </p:sp>
      <p:pic>
        <p:nvPicPr>
          <p:cNvPr id="177" name="Google Shape;1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100" y="3423075"/>
            <a:ext cx="4257600" cy="128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9"/>
          <p:cNvCxnSpPr/>
          <p:nvPr/>
        </p:nvCxnSpPr>
        <p:spPr>
          <a:xfrm flipH="1" rot="10800000">
            <a:off x="353100" y="3143525"/>
            <a:ext cx="8437800" cy="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9"/>
          <p:cNvSpPr txBox="1"/>
          <p:nvPr/>
        </p:nvSpPr>
        <p:spPr>
          <a:xfrm>
            <a:off x="5159825" y="1483900"/>
            <a:ext cx="3698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Control Cells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Used to communicate with nodes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159825" y="2218800"/>
            <a:ext cx="3492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Relay Cells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Used to exchange data with the destination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1" name="Google Shape;181;p19"/>
          <p:cNvCxnSpPr>
            <a:stCxn id="176" idx="3"/>
            <a:endCxn id="179" idx="1"/>
          </p:cNvCxnSpPr>
          <p:nvPr/>
        </p:nvCxnSpPr>
        <p:spPr>
          <a:xfrm flipH="1" rot="10800000">
            <a:off x="3967675" y="1753350"/>
            <a:ext cx="11922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9"/>
          <p:cNvCxnSpPr>
            <a:stCxn id="176" idx="3"/>
            <a:endCxn id="180" idx="1"/>
          </p:cNvCxnSpPr>
          <p:nvPr/>
        </p:nvCxnSpPr>
        <p:spPr>
          <a:xfrm>
            <a:off x="3967675" y="2169750"/>
            <a:ext cx="11922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060725" y="452900"/>
            <a:ext cx="7574400" cy="8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Tor core design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2000">
                <a:solidFill>
                  <a:schemeClr val="dk2"/>
                </a:solidFill>
              </a:rPr>
              <a:t>Circuits and Streams</a:t>
            </a:r>
            <a:endParaRPr sz="2000"/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311700" y="1647300"/>
            <a:ext cx="3356100" cy="26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A circuit </a:t>
            </a:r>
            <a:r>
              <a:rPr lang="pt-PT"/>
              <a:t>consists of an encrypted path over 3 relays: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   </a:t>
            </a:r>
            <a:r>
              <a:rPr b="1" lang="pt-PT" sz="1400"/>
              <a:t>Entry Relay - Middle Relay - Exit Relay</a:t>
            </a:r>
            <a:endParaRPr b="1" sz="1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Nodes only know their neighbours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A stream is a data flow over a circuit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One circuit can have multiple streams</a:t>
            </a:r>
            <a:endParaRPr/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725" y="1647300"/>
            <a:ext cx="4948625" cy="24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725" y="1625550"/>
            <a:ext cx="4948625" cy="2817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1200050" y="258800"/>
            <a:ext cx="76323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500"/>
              <a:t>Tor core design</a:t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2"/>
                </a:solidFill>
              </a:rPr>
              <a:t>Directory Servers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311700" y="1647300"/>
            <a:ext cx="3512400" cy="29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Directory Servers are long term members and trusted entities who ma</a:t>
            </a:r>
            <a:r>
              <a:rPr lang="pt-PT"/>
              <a:t>i</a:t>
            </a:r>
            <a:r>
              <a:rPr lang="pt-PT"/>
              <a:t>ntain a list of all available and reliable Onion Routers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Clients download a consensus document to know what are the available Relay Nodes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Ensures network safety, i</a:t>
            </a:r>
            <a:r>
              <a:rPr lang="pt-PT"/>
              <a:t>ntegrity</a:t>
            </a:r>
            <a:r>
              <a:rPr lang="pt-PT"/>
              <a:t> and organization</a:t>
            </a:r>
            <a:endParaRPr/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87800"/>
            <a:ext cx="4345699" cy="315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1127225" y="290925"/>
            <a:ext cx="2943300" cy="1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2500"/>
              <a:t>Tor core design</a:t>
            </a:r>
            <a:endParaRPr sz="2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800">
                <a:solidFill>
                  <a:schemeClr val="dk2"/>
                </a:solidFill>
              </a:rPr>
              <a:t>Hidden Services</a:t>
            </a:r>
            <a:endParaRPr/>
          </a:p>
        </p:txBody>
      </p:sp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311700" y="1647300"/>
            <a:ext cx="3683100" cy="29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Allow for servers to stay anonymous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The hidden service uses multiple nodes to advertise it self. These nodes are called </a:t>
            </a:r>
            <a:r>
              <a:rPr b="1" lang="pt-PT"/>
              <a:t>Introduction Points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Both client and server connect </a:t>
            </a:r>
            <a:r>
              <a:rPr lang="pt-PT"/>
              <a:t>through Tor circuits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The node where the Client and Server connect is called Rendezvous Point</a:t>
            </a:r>
            <a:r>
              <a:rPr lang="pt-PT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Used for services who require privacy</a:t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489" y="1090650"/>
            <a:ext cx="4791725" cy="38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Plan For Assignment 2</a:t>
            </a:r>
            <a:endParaRPr/>
          </a:p>
        </p:txBody>
      </p:sp>
      <p:sp>
        <p:nvSpPr>
          <p:cNvPr id="210" name="Google Shape;210;p23"/>
          <p:cNvSpPr txBox="1"/>
          <p:nvPr>
            <p:ph idx="1" type="body"/>
          </p:nvPr>
        </p:nvSpPr>
        <p:spPr>
          <a:xfrm>
            <a:off x="298750" y="1375225"/>
            <a:ext cx="3683100" cy="29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Experiment 1: </a:t>
            </a:r>
            <a:r>
              <a:rPr b="1" lang="pt-PT"/>
              <a:t>Client Anonymity to a Clearnet Server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- 1 Client - 1 Clearnet Server - 2 Observers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Experiment 2: </a:t>
            </a:r>
            <a:r>
              <a:rPr b="1" lang="pt-PT"/>
              <a:t>Hidden Service Anonymity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- 1 Client - 1 Hidden Server - 3 Observers</a:t>
            </a:r>
            <a:endParaRPr/>
          </a:p>
        </p:txBody>
      </p:sp>
      <p:pic>
        <p:nvPicPr>
          <p:cNvPr id="211" name="Google Shape;2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948" y="1100525"/>
            <a:ext cx="4722499" cy="159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950" y="2958351"/>
            <a:ext cx="4722499" cy="1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878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